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6968"/>
            <a:ext cx="82296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1" y="813816"/>
            <a:ext cx="82296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3" y="731520"/>
            <a:ext cx="82296" cy="29260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6766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Konsilys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576072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Solution de pilotage pour les entités CGI ·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Konsilys pour CGI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C7D2DD"/>
                </a:solidFill>
                <a:latin typeface="Calibri"/>
              </a:rPr>
              <a:t>Une plateforme SaaS de pilotage des activités de conseil, déjà en production — prête à déployer sur vos entités pour un pilotage opérationnel en temps réel.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Présenté par [Votre nom]  ·  konsilys.fr  ·  contact@konsilys.fr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4334256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Pourquoi cette rencontre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Un outil d'agilité, prêt à déployer pour CGI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647485"/>
                </a:solidFill>
                <a:latin typeface="Calibri"/>
              </a:rPr>
              <a:t>Konsilys est une plateforme opérationnelle pour sociétés de conseil, en production. CGI peut l'adopter dès aujourd'hui pour piloter les entités que le SI groupe sert mal — sans projet lourd.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134355" cy="2103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99923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585716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B3A"/>
                </a:solidFill>
                <a:latin typeface="Calibri"/>
              </a:rPr>
              <a:t>Déployable tout de suite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Opérationnel en quelques minutes sur une entité : import Excel/CSV, aucun chantier d'intégration préalable.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2743200"/>
            <a:ext cx="5134355" cy="2103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05955" y="299923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5" y="3200400"/>
            <a:ext cx="4585716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B3A"/>
                </a:solidFill>
                <a:latin typeface="Calibri"/>
              </a:rPr>
              <a:t>Complémentaire à votre SI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Konsilys ne remplace pas l'ERP : il comble l'opérationnel léger (staffing, marge, absences, CRM) là où l'ERP est lourd.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2860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Un angle mort, même pour les géants du conseil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34355" cy="1783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857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Le dernier kilomètre reste manuel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Filiales, entités acquises et petites BU pilotent souvent sur tableurs en attendant l'intégration au SI groupe.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965960"/>
            <a:ext cx="5134355" cy="1783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05955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5955" y="2423160"/>
            <a:ext cx="45857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L'intégration post-acquisition est lente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Brancher une entité rachetée sur l'ERP prend des mois : la visibilité opérationnelle manque pendant ce temps.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5134355" cy="1783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427939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45857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Les outils lourds ne sont pas agiles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Les ERP couvrent la conformité mais mal l'opérationnel léger : staffing, marge temps réel, absences, CRM.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4023360"/>
            <a:ext cx="5134355" cy="1783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05955" y="427939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5955" y="4480560"/>
            <a:ext cx="45857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Un besoin quotidien pour les managers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Staffing à l'aveugle, marge recalculée à la main, validations par mail : du temps perdu au quotidien.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2860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Le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Konsilys couvre tout le cycle de vie consultant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31464" cy="1920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278282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B2B3A"/>
                </a:solidFill>
                <a:latin typeface="Calibri"/>
              </a:rPr>
              <a:t>KPIs &amp; pilotage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485"/>
                </a:solidFill>
                <a:latin typeface="Calibri"/>
              </a:rPr>
              <a:t>Staffing, CA, TJM, contribution nette en temps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8744" y="1965960"/>
            <a:ext cx="3331464" cy="1920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3063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3063" y="2423160"/>
            <a:ext cx="278282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B2B3A"/>
                </a:solidFill>
                <a:latin typeface="Calibri"/>
              </a:rPr>
              <a:t>Staffing &amp; missions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485"/>
                </a:solidFill>
                <a:latin typeface="Calibri"/>
              </a:rPr>
              <a:t>Assistance technique et forfaits, marge automatique.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4527" y="1965960"/>
            <a:ext cx="3331464" cy="1920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8847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8847" y="2423160"/>
            <a:ext cx="278282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B2B3A"/>
                </a:solidFill>
                <a:latin typeface="Calibri"/>
              </a:rPr>
              <a:t>Planning &amp; absences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485"/>
                </a:solidFill>
                <a:latin typeface="Calibri"/>
              </a:rPr>
              <a:t>Gantt par consultant, 9 types, validation N+1.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3331464" cy="1920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41655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278282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B2B3A"/>
                </a:solidFill>
                <a:latin typeface="Calibri"/>
              </a:rPr>
              <a:t>Recrutement (module)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485"/>
                </a:solidFill>
                <a:latin typeface="Calibri"/>
              </a:rPr>
              <a:t>Pipeline candidats, conversion en consultant.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8744" y="4160520"/>
            <a:ext cx="3331464" cy="1920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3063" y="441655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3063" y="4617720"/>
            <a:ext cx="278282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B2B3A"/>
                </a:solidFill>
                <a:latin typeface="Calibri"/>
              </a:rPr>
              <a:t>CRM Business (module)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485"/>
                </a:solidFill>
                <a:latin typeface="Calibri"/>
              </a:rPr>
              <a:t>Comptes, contacts, opportunités → mission auto.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4527" y="4160520"/>
            <a:ext cx="3331464" cy="1920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8847" y="441655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8847" y="4617720"/>
            <a:ext cx="278282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B2B3A"/>
                </a:solidFill>
                <a:latin typeface="Calibri"/>
              </a:rPr>
              <a:t>Onboarding express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485"/>
                </a:solidFill>
                <a:latin typeface="Calibri"/>
              </a:rPr>
              <a:t>Import Excel/CSV, opérationnel en minutes.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2432304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En production, prête pour un groupe comme CGI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331464" cy="237744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278282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84CC16"/>
                </a:solidFill>
                <a:latin typeface="Calibri"/>
              </a:rPr>
              <a:t>En production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Produit déployé : souscription, pilotage et provisioning fonctionnent de bout en bout. Rien à construire.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8744" y="1965960"/>
            <a:ext cx="3331464" cy="237744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3063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063" y="2423160"/>
            <a:ext cx="278282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84CC16"/>
                </a:solidFill>
                <a:latin typeface="Calibri"/>
              </a:rPr>
              <a:t>Moderne &amp; sécurisée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SaaS multi-tenant, isolation stricte par entité (RLS), paiement délégué (Stripe), hébergement Europe (RGPD).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4527" y="1965960"/>
            <a:ext cx="3331464" cy="237744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8847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7" y="2423160"/>
            <a:ext cx="278282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84CC16"/>
                </a:solidFill>
                <a:latin typeface="Calibri"/>
              </a:rPr>
              <a:t>Prête à s'intégrer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Architecture ouverte (API, fonctions serveur). Prête à recevoir SSO/annuaire et à s'aligner sur les standards CGI.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301752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Différenciation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Une place que ni l'ERP ni le tableur n'occupent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834640" cy="77724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vs Tableurs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011680"/>
            <a:ext cx="7571231" cy="777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212140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2B3A"/>
                </a:solidFill>
                <a:latin typeface="Calibri"/>
              </a:rPr>
              <a:t>Temps réel, multi-utilisateurs, validations et historique — là où Excel est statique et fragile.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44368"/>
            <a:ext cx="2834640" cy="77724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272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vs ERP lourds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944368"/>
            <a:ext cx="7571231" cy="777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3054096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2B3A"/>
                </a:solidFill>
                <a:latin typeface="Calibri"/>
              </a:rPr>
              <a:t>Déployé en minutes, sans projet d'intégration : couvre l'opérationnel léger que l'ERP couvre 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77056"/>
            <a:ext cx="2834640" cy="77724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599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vs outils spécialisés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877056"/>
            <a:ext cx="7571231" cy="777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986784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2B3A"/>
                </a:solidFill>
                <a:latin typeface="Calibri"/>
              </a:rPr>
              <a:t>Une seule plateforme : staffing + missions + absences + recrutement + CRM.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9744"/>
            <a:ext cx="2834640" cy="77724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9262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Modèle par licence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809744"/>
            <a:ext cx="7571231" cy="7772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4919472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2B3A"/>
                </a:solidFill>
                <a:latin typeface="Calibri"/>
              </a:rPr>
              <a:t>Tarif par rôle et par siège : vous ne payez que l'usage réel, entité par entité.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993392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Pour CGI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Où Konsilys crée de la valeur chez vous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358384" cy="27432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286000"/>
            <a:ext cx="228600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CAS D'USAGE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Filiales &amp; petites BU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C7D2DD"/>
                </a:solidFill>
                <a:latin typeface="Calibri"/>
              </a:rPr>
              <a:t>Outiller en quelques minutes les entités mal servies par l'ERP groupe : pilotage, marge et staffing en temps réel, sans attendre un projet 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55664" y="1965960"/>
            <a:ext cx="5358384" cy="27432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75704" y="2286000"/>
            <a:ext cx="228600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CAS D'USAGE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2880360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Post-acquisition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C7D2DD"/>
                </a:solidFill>
                <a:latin typeface="Calibri"/>
              </a:rPr>
              <a:t>Donner une visibilité opérationnelle immédiate sur une entité récemment rachetée, le temps de son intégration. Accélère et dérisque le post-merger.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C7D2DD"/>
                </a:solidFill>
                <a:latin typeface="Calibri"/>
              </a:rPr>
              <a:t>Konsilys ne remplace pas l'ERP de CGI : il occupe l'espace agile que l'ERP ne couvre pas.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139696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 valeur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Ce que CGI y gagne, concrètement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34355" cy="1783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857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Visibilité immédiate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Staffing, CA et marge en temps réel dès le premier jour, sans chantier.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965960"/>
            <a:ext cx="5134355" cy="1783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05955" y="2221991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5955" y="2423160"/>
            <a:ext cx="45857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Productivité managériale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Fini les ressaisies et les validations par mail : les managers pilotent, ne compilent plus.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5134355" cy="1783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427939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45857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Sans risque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On démarre par un pilote cadré : pas de refonte du SI, réversibilité totale.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4023360"/>
            <a:ext cx="5134355" cy="1783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05955" y="427939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5955" y="4480560"/>
            <a:ext cx="45857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Coût maîtrisé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SaaS par licence : vous payez l'usage réel, entité par entité, sans intégration lourde.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700784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Ce n'est pas une idée : c'est en ligne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514600" cy="18288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39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En production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Déployé et utilisable dès aujourd'hui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592" y="2103120"/>
            <a:ext cx="2514600" cy="18288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377439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Multi-entreprises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Plusieurs organisations sur la plateforme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2103120"/>
            <a:ext cx="2514600" cy="18288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377439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Paiement live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Souscription de bout en bout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2103120"/>
            <a:ext cx="2514600" cy="18288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17736" y="2377439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Modules livrés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Recrutement &amp; CRM commercial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989320"/>
            <a:ext cx="10543032" cy="502920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8A6D1E"/>
                </a:solidFill>
                <a:latin typeface="Calibri"/>
              </a:rPr>
              <a:t>À COMPLÉTER — chiffrer : nb d'entreprises/consultants gérés, retours utilisateurs, et préparer une démo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3163824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Comment démarrer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Un parcours simple, sans risque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2011679"/>
            <a:ext cx="9765792" cy="960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148839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Pilote sur une entité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Une filiale ou BU volontaire, cadré (objectifs, durée, indicateurs). Mise en route en quelques jours.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91839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3200399"/>
            <a:ext cx="9765792" cy="960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3337559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Mesure de la valeur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On compare avant/après : visibilité, temps managérial, qualité du staffing et de la marge.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80559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4389120"/>
            <a:ext cx="9765792" cy="960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526279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Déploiement comme client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Extension à d'autres entités, en abonnement SaaS par licence, au rythme de CGI.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1993392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Et après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Commencer client, garder les options ouvertes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647485"/>
                </a:solidFill>
                <a:latin typeface="Calibri"/>
              </a:rPr>
              <a:t>L'objectif immédiat est simple : que CGI adopte Konsilys comme solution. Si la collaboration se développe, plusieurs voies pourront s'ouvrir — à explorer plus tard, sans engagement aujourd'hui 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502152" cy="2194560"/>
          </a:xfrm>
          <a:prstGeom prst="roundRect">
            <a:avLst/>
          </a:prstGeom>
          <a:solidFill>
            <a:srgbClr val="F7F9FB"/>
          </a:solidFill>
          <a:ln w="25400">
            <a:solidFill>
              <a:srgbClr val="84C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017520"/>
            <a:ext cx="265176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AUJOURD'HUI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29535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Client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CGI utilise et déploie Konsilys sur ses entités, en abonnement.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9432" y="2743200"/>
            <a:ext cx="3502152" cy="21945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3752" y="3017520"/>
            <a:ext cx="2651760" cy="384048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647485"/>
                </a:solidFill>
                <a:latin typeface="Calibri"/>
              </a:rPr>
              <a:t>PLUS TARD · 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3566160"/>
            <a:ext cx="29535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Partenariat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CGI distribue ou intègre Konsilys à son offre pour ses propres clients.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5904" y="2743200"/>
            <a:ext cx="3502152" cy="21945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50224" y="3017520"/>
            <a:ext cx="2651760" cy="384048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647485"/>
                </a:solidFill>
                <a:latin typeface="Calibri"/>
              </a:rPr>
              <a:t>PLUS TARD · 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3566160"/>
            <a:ext cx="29535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Acquisition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Si le produit devient stratégique, une reprise du produit et de l'équipe reste envisageable.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1700784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Ce que Konsilys apporte à CGI dans la durée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2011679"/>
            <a:ext cx="9765792" cy="960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148839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Intégration entreprise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SSO / annuaire, connecteurs RH-paie et ERP, exports comptables.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91839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3200399"/>
            <a:ext cx="9765792" cy="960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3337559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Échelle groupe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Multi-entités, consolidation, conformité et hébergement aux standards CGI.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80559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4389120"/>
            <a:ext cx="9765792" cy="960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526279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Différenciation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IA de staffing et recommandations : anticiper inter-contrats et optimiser la marge.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2860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Un premier pas concret : le pilote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331464" cy="18288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35915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78282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B3A"/>
                </a:solidFill>
                <a:latin typeface="Calibri"/>
              </a:rPr>
              <a:t>1. Une entité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Choisir ensemble une filiale ou BU volontaire pour un pilote cadré.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8744" y="2103120"/>
            <a:ext cx="3331464" cy="18288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3063" y="235915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3063" y="2560320"/>
            <a:ext cx="278282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B3A"/>
                </a:solidFill>
                <a:latin typeface="Calibri"/>
              </a:rPr>
              <a:t>2. Un pilote mesuré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Objectifs, durée et indicateurs clairs. Mise en route en quelques jours.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4527" y="2103120"/>
            <a:ext cx="3331464" cy="18288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8847" y="2359152"/>
            <a:ext cx="457200" cy="10058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8847" y="2560320"/>
            <a:ext cx="278282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B3A"/>
                </a:solidFill>
                <a:latin typeface="Calibri"/>
              </a:rPr>
              <a:t>3. Le déploiement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Si concluant, extension à d'autres entités en abonnement.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89120"/>
            <a:ext cx="10543032" cy="868680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537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Notre demande : lancer un pilote sur une entité volontaire.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978408"/>
            <a:ext cx="82296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1" y="905256"/>
            <a:ext cx="82296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3" y="822959"/>
            <a:ext cx="82296" cy="29260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7680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Konsilys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Une solution prête. Démarrons par un pilote.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C7D2DD"/>
                </a:solidFill>
                <a:latin typeface="Calibri"/>
              </a:rPr>
              <a:t>Un produit en production, un déploiement en quelques jours, et une valeur mesurable dès la première entité — au rythme de CGI.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contact@konsilys.fr  ·  konsilys.fr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
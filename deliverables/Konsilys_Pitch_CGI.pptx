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886968"/>
            <a:ext cx="82296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271" y="813816"/>
            <a:ext cx="82296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2143" y="731520"/>
            <a:ext cx="82296" cy="29260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6766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Konsilys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548640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Proposition de partenariat stratégique · Confidentiel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Konsilys × CGI</a:t>
            </a:r>
          </a:p>
          <a:p>
            <a:pPr algn="l">
              <a:spcAft>
                <a:spcPts val="500"/>
              </a:spcAft>
            </a:pPr>
            <a:r>
              <a:rPr sz="1900" b="0" i="0">
                <a:solidFill>
                  <a:srgbClr val="C7D2DD"/>
                </a:solidFill>
                <a:latin typeface="Calibri"/>
              </a:rPr>
              <a:t>Une plateforme SaaS de pilotage des sociétés de conseil, déjà en production — et une opportunité pour CGI : agilité interne et actif produit différenciant.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Présenté par [Votre nom]  ·  konsilys.fr  ·  contact@konsilys.fr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4334256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Pourquoi cette rencontre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Un produit prêt, deux opportunités pour CGI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647485"/>
                </a:solidFill>
                <a:latin typeface="Calibri"/>
              </a:rPr>
              <a:t>Konsilys est une plateforme opérationnelle et commerciale pour ESN, construite et déployée en production. Elle a une place naturelle dans l'écosystème CGI, sur deux fronts 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5134355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999232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4585716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B3A"/>
                </a:solidFill>
                <a:latin typeface="Calibri"/>
              </a:rPr>
              <a:t>Un levier d'agilité interne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Outiller en quelques minutes les entités mal servies par l'ERP groupe : filiales, acquisitions, BU, joint-ventures.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2743200"/>
            <a:ext cx="5134355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05955" y="2999232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5" y="3200400"/>
            <a:ext cx="4585716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B3A"/>
                </a:solidFill>
                <a:latin typeface="Calibri"/>
              </a:rPr>
              <a:t>Un actif produit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Un SaaS moderne que CGI pourrait porter, distribuer à ses clients ou intégrer à son offre — au lieu de le construire.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228600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Un angle mort, même pour les géants du conseil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134355" cy="17830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221991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23160"/>
            <a:ext cx="45857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Le dernier kilomètre reste manuel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Filiales, entités acquises et petites BU pilotent souvent sur tableurs en attendant l'intégration au SI groupe.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965960"/>
            <a:ext cx="5134355" cy="17830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05955" y="2221991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5955" y="2423160"/>
            <a:ext cx="45857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L'intégration post-acquisition est lente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Brancher une entité rachetée sur l'ERP prend des mois : la visibilité opérationnelle manque pendant ce temps.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5134355" cy="17830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4279392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45857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Les outils lourds ne sont pas agiles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Les ERP couvrent la conformité mais mal l'opérationnel léger : staffing, marge temps réel, absences, CRM.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4023360"/>
            <a:ext cx="5134355" cy="17830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05955" y="4279392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5955" y="4480560"/>
            <a:ext cx="45857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Un marché immense, connu de CGI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Des centaines de milliers de consultants en France, des millions en Europe : le métier même de CGI.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228600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Le produit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Konsilys couvre tout le cycle de vie consultant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3331464" cy="1920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221991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23160"/>
            <a:ext cx="278282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 i="0">
                <a:solidFill>
                  <a:srgbClr val="1B2B3A"/>
                </a:solidFill>
                <a:latin typeface="Calibri"/>
              </a:rPr>
              <a:t>KPIs &amp; pilotage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647485"/>
                </a:solidFill>
                <a:latin typeface="Calibri"/>
              </a:rPr>
              <a:t>Staffing, CA, TJM, contribution nette en temps réel.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8744" y="1965960"/>
            <a:ext cx="3331464" cy="1920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3063" y="2221991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3063" y="2423160"/>
            <a:ext cx="278282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 i="0">
                <a:solidFill>
                  <a:srgbClr val="1B2B3A"/>
                </a:solidFill>
                <a:latin typeface="Calibri"/>
              </a:rPr>
              <a:t>Staffing &amp; missions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647485"/>
                </a:solidFill>
                <a:latin typeface="Calibri"/>
              </a:rPr>
              <a:t>Assistance technique et forfaits, marge automatique.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4527" y="1965960"/>
            <a:ext cx="3331464" cy="1920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08847" y="2221991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8847" y="2423160"/>
            <a:ext cx="278282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 i="0">
                <a:solidFill>
                  <a:srgbClr val="1B2B3A"/>
                </a:solidFill>
                <a:latin typeface="Calibri"/>
              </a:rPr>
              <a:t>Planning &amp; absences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647485"/>
                </a:solidFill>
                <a:latin typeface="Calibri"/>
              </a:rPr>
              <a:t>Gantt par consultant, 9 types, validation N+1.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60520"/>
            <a:ext cx="3331464" cy="1920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4416552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617720"/>
            <a:ext cx="278282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 i="0">
                <a:solidFill>
                  <a:srgbClr val="1B2B3A"/>
                </a:solidFill>
                <a:latin typeface="Calibri"/>
              </a:rPr>
              <a:t>Recrutement (module)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647485"/>
                </a:solidFill>
                <a:latin typeface="Calibri"/>
              </a:rPr>
              <a:t>Pipeline candidats, conversion en consultant.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8744" y="4160520"/>
            <a:ext cx="3331464" cy="1920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03063" y="4416552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3063" y="4617720"/>
            <a:ext cx="278282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 i="0">
                <a:solidFill>
                  <a:srgbClr val="1B2B3A"/>
                </a:solidFill>
                <a:latin typeface="Calibri"/>
              </a:rPr>
              <a:t>CRM Business (module)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647485"/>
                </a:solidFill>
                <a:latin typeface="Calibri"/>
              </a:rPr>
              <a:t>Comptes, contacts, opportunités → mission auto.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4527" y="4160520"/>
            <a:ext cx="3331464" cy="1920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08847" y="4416552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8847" y="4617720"/>
            <a:ext cx="278282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 i="0">
                <a:solidFill>
                  <a:srgbClr val="1B2B3A"/>
                </a:solidFill>
                <a:latin typeface="Calibri"/>
              </a:rPr>
              <a:t>Onboarding express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647485"/>
                </a:solidFill>
                <a:latin typeface="Calibri"/>
              </a:rPr>
              <a:t>Import Excel/CSV, opérationnel en minutes.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847088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L'actif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8755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Ce que CGI acquiert : un produit fonctionnel, pas une promesse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3331464" cy="237744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221991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2782823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84CC16"/>
                </a:solidFill>
                <a:latin typeface="Calibri"/>
              </a:rPr>
              <a:t>Réel, pas un concept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C7D2DD"/>
                </a:solidFill>
                <a:latin typeface="Calibri"/>
              </a:rPr>
              <a:t>Produit en production : souscription, paiement, provisioning et pilotage fonctionnent de bout en bout.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8744" y="1965960"/>
            <a:ext cx="3331464" cy="237744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03063" y="2221991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3063" y="2423160"/>
            <a:ext cx="2782823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84CC16"/>
                </a:solidFill>
                <a:latin typeface="Calibri"/>
              </a:rPr>
              <a:t>Architecture moderne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C7D2DD"/>
                </a:solidFill>
                <a:latin typeface="Calibri"/>
              </a:rPr>
              <a:t>SaaS multi-tenant, PostgreSQL, isolation par entreprise (RLS), paiement Stripe. Hébergement en Europe.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4527" y="1965960"/>
            <a:ext cx="3331464" cy="237744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08847" y="2221991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8847" y="2423160"/>
            <a:ext cx="2782823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84CC16"/>
                </a:solidFill>
                <a:latin typeface="Calibri"/>
              </a:rPr>
              <a:t>Sécurité by design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C7D2DD"/>
                </a:solidFill>
                <a:latin typeface="Calibri"/>
              </a:rPr>
              <a:t>Cloisonnement strict, moindre privilège, RGPD. Prêt à recevoir SSO / annuaire d'entreprise.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301752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Différenciation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Une place que ni l'ERP ni le tableur n'occupent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2834640" cy="77724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vs Tableurs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2011680"/>
            <a:ext cx="7571231" cy="777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77639" y="212140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2B3A"/>
                </a:solidFill>
                <a:latin typeface="Calibri"/>
              </a:rPr>
              <a:t>Temps réel, multi-utilisateurs, validations et historique — là où Excel est statique et fragile.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44368"/>
            <a:ext cx="2834640" cy="77724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2724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vs ERP lourds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2944368"/>
            <a:ext cx="7571231" cy="777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39" y="305409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2B3A"/>
                </a:solidFill>
                <a:latin typeface="Calibri"/>
              </a:rPr>
              <a:t>Déployé en minutes, sans projet d'intégration : couvre l'opérationnel léger que l'ERP couvre mal.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77056"/>
            <a:ext cx="2834640" cy="77724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059936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vs outils spécialisés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60" y="3877056"/>
            <a:ext cx="7571231" cy="777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7639" y="398678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2B3A"/>
                </a:solidFill>
                <a:latin typeface="Calibri"/>
              </a:rPr>
              <a:t>Une seule plateforme : staffing + missions + absences + recrutement + CRM.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9744"/>
            <a:ext cx="2834640" cy="77724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92624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Modèle extensible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94760" y="4809744"/>
            <a:ext cx="7571231" cy="777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39" y="491947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2B3A"/>
                </a:solidFill>
                <a:latin typeface="Calibri"/>
              </a:rPr>
              <a:t>Licence par rôle et par siège : revenu qui croît avec l'usage, adoption progressive.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2578608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Pourquoi CGI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8755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Deux façons de créer de la valeur, tout de suite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358384" cy="27432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43000" y="2286000"/>
            <a:ext cx="274320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VECTEUR 1 · INTERNE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80360"/>
            <a:ext cx="47183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Agilité pour le groupe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C7D2DD"/>
                </a:solidFill>
                <a:latin typeface="Calibri"/>
              </a:rPr>
              <a:t>Déployer Konsilys sur les entités mal outillées et les acquisitions récentes : visibilité opérationnelle immédiate, sans attendre l'intégration à l'ERP. Accélère et dérisque le post-merger.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5664" y="1965960"/>
            <a:ext cx="5358384" cy="27432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75704" y="2286000"/>
            <a:ext cx="274320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VECTEUR 2 · OFFRE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5704" y="2880360"/>
            <a:ext cx="47183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 produit à porter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C7D2DD"/>
                </a:solidFill>
                <a:latin typeface="Calibri"/>
              </a:rPr>
              <a:t>CGI peut distribuer Konsilys à ses propres clients (ESN, DSI, cabinets) ou l'intégrer à ses services managés — un revenu SaaS récurrent et une vitrine d'innovation.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1">
                <a:solidFill>
                  <a:srgbClr val="C7D2DD"/>
                </a:solidFill>
                <a:latin typeface="Calibri"/>
              </a:rPr>
              <a:t>Konsilys ne remplace pas l'ERP de CGI : il occupe l'espace agile que l'ERP ne couvre pas, en interne comme en offre client.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2139696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Synergies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1 + 1 =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358384" cy="228600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Ce que CGI apporte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•  Base clients massive et force commerciale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•  Marque, crédibilité, confiance des DSI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•  Capital et industrialisation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•  Expertise d'intégration (SSO, ERP, sécurité)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55664" y="1965960"/>
            <a:ext cx="4910328" cy="22860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9984" y="2194560"/>
            <a:ext cx="4389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84CC16"/>
                </a:solidFill>
                <a:latin typeface="Calibri"/>
              </a:rPr>
              <a:t>Ce que Konsilys apporte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7D2DD"/>
                </a:solidFill>
                <a:latin typeface="Calibri"/>
              </a:rPr>
              <a:t>•  Un produit SaaS moderne, déjà livré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7D2DD"/>
                </a:solidFill>
                <a:latin typeface="Calibri"/>
              </a:rPr>
              <a:t>•  Rapidité et culture produit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7D2DD"/>
                </a:solidFill>
                <a:latin typeface="Calibri"/>
              </a:rPr>
              <a:t>•  Un actif différenciant, clé en main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7D2DD"/>
                </a:solidFill>
                <a:latin typeface="Calibri"/>
              </a:rPr>
              <a:t>•  L'équipe qui le fait évoluer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80560"/>
            <a:ext cx="10543032" cy="91440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681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Distribution CGI × Produit Konsilys = une accélération que ni l'un ni l'autre n'atteint seul.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700784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Preuve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8755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Ce n'est pas une idée : c'est en ligne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514600" cy="18288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77439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84CC16"/>
                </a:solidFill>
                <a:latin typeface="Calibri"/>
              </a:rPr>
              <a:t>En production</a:t>
            </a:r>
          </a:p>
          <a:p>
            <a:pPr algn="ctr">
              <a:spcAft>
                <a:spcPts val="5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Déployé et utilisable dès aujourd'hui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93592" y="2103120"/>
            <a:ext cx="2514600" cy="18288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2377439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84CC16"/>
                </a:solidFill>
                <a:latin typeface="Calibri"/>
              </a:rPr>
              <a:t>Multi-entreprises</a:t>
            </a:r>
          </a:p>
          <a:p>
            <a:pPr algn="ctr">
              <a:spcAft>
                <a:spcPts val="5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Plusieurs organisations sur la plateforme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2103120"/>
            <a:ext cx="2514600" cy="18288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2377439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84CC16"/>
                </a:solidFill>
                <a:latin typeface="Calibri"/>
              </a:rPr>
              <a:t>Paiement live</a:t>
            </a:r>
          </a:p>
          <a:p>
            <a:pPr algn="ctr">
              <a:spcAft>
                <a:spcPts val="5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Souscription Stripe de bout en bout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2103120"/>
            <a:ext cx="2514600" cy="18288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17736" y="2377439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84CC16"/>
                </a:solidFill>
                <a:latin typeface="Calibri"/>
              </a:rPr>
              <a:t>Modules livrés</a:t>
            </a:r>
          </a:p>
          <a:p>
            <a:pPr algn="ctr">
              <a:spcAft>
                <a:spcPts val="5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Recrutement &amp; CRM commercial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989320"/>
            <a:ext cx="10543032" cy="50292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8A6D1E"/>
                </a:solidFill>
                <a:latin typeface="Calibri"/>
              </a:rPr>
              <a:t>À COMPLÉTER — chiffrer : nb d'entreprises/consultants gérés, retours utilisateurs, MRR éventuel, démo live à préparer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1847088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Un spectre, du pilote à l'acquisition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3502152" cy="265176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2240279"/>
            <a:ext cx="210312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DÉRISQUER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34639"/>
            <a:ext cx="29535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Pilote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Déploiement sur une entité/BU volontaire. Preuve de valeur mesurée avant tout engagement.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9432" y="1965960"/>
            <a:ext cx="3502152" cy="265176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873752" y="2240279"/>
            <a:ext cx="210312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COLLABORER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834639"/>
            <a:ext cx="29535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Partenariat / distribution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CGI distribue ou intègre Konsilys (marque blanche possible), partage de revenus.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75904" y="1965960"/>
            <a:ext cx="3502152" cy="265176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50224" y="2240279"/>
            <a:ext cx="210312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INTÉGRER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0224" y="2834639"/>
            <a:ext cx="29535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Acquisition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C7D2DD"/>
                </a:solidFill>
                <a:latin typeface="Calibri"/>
              </a:rPr>
              <a:t>Rachat du produit + IP et intégration de l'équipe. CGI possède et industrialise l'actif.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92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1">
                <a:solidFill>
                  <a:srgbClr val="647485"/>
                </a:solidFill>
                <a:latin typeface="Calibri"/>
              </a:rPr>
              <a:t>Approche recommandée : commencer par un pilote pour prouver la valeur, avec une option d'acquisition/partenariat à la clé.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1700784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Ce que Konsilys devient, adossé à CGI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103120"/>
            <a:ext cx="502920" cy="502920"/>
          </a:xfrm>
          <a:prstGeom prst="ellipse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00200" y="2011679"/>
            <a:ext cx="9765792" cy="960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74519" y="2148839"/>
            <a:ext cx="9235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Intégration entreprise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SSO / annuaire, connecteurs RH-paie et ERP, exports comptables.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291839"/>
            <a:ext cx="502920" cy="502920"/>
          </a:xfrm>
          <a:prstGeom prst="ellipse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0200" y="3200399"/>
            <a:ext cx="9765792" cy="960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3337559"/>
            <a:ext cx="9235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Échelle groupe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Multi-entités, consolidation, conformité et hébergement aux standards CGI.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480559"/>
            <a:ext cx="502920" cy="502920"/>
          </a:xfrm>
          <a:prstGeom prst="ellipse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00200" y="4389120"/>
            <a:ext cx="9765792" cy="960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526279"/>
            <a:ext cx="9235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Différenciation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IA de staffing et recommandations : anticiper inter-contrats et optimiser la marge.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1700784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Qui est derrière Konsilys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647485"/>
                </a:solidFill>
                <a:latin typeface="Calibri"/>
              </a:rPr>
              <a:t>Le facteur clé d'une acquisition produit : l'équipe qui le porte.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3429000" cy="265176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2606040"/>
            <a:ext cx="868680" cy="868680"/>
          </a:xfrm>
          <a:prstGeom prst="ellipse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0"/>
              </a:spcAft>
            </a:pPr>
            <a:r>
              <a:rPr sz="2400" b="1" i="0">
                <a:solidFill>
                  <a:srgbClr val="84CC16"/>
                </a:solidFill>
                <a:latin typeface="Calibri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2880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Prénom Nom</a:t>
            </a:r>
          </a:p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84CC16"/>
                </a:solidFill>
                <a:latin typeface="Calibri"/>
              </a:rPr>
              <a:t>Rôle</a:t>
            </a:r>
          </a:p>
          <a:p>
            <a:pPr algn="ctr">
              <a:spcAft>
                <a:spcPts val="500"/>
              </a:spcAft>
            </a:pPr>
            <a:r>
              <a:rPr sz="1150" b="0" i="0">
                <a:solidFill>
                  <a:srgbClr val="647485"/>
                </a:solidFill>
                <a:latin typeface="Calibri"/>
              </a:rPr>
              <a:t>Parcours, réalisations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377440"/>
            <a:ext cx="3429000" cy="265176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806440" y="2606040"/>
            <a:ext cx="868680" cy="868680"/>
          </a:xfrm>
          <a:prstGeom prst="ellipse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0"/>
              </a:spcAft>
            </a:pPr>
            <a:r>
              <a:rPr sz="2400" b="1" i="0">
                <a:solidFill>
                  <a:srgbClr val="84CC16"/>
                </a:solidFill>
                <a:latin typeface="Calibri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880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Prénom Nom</a:t>
            </a:r>
          </a:p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84CC16"/>
                </a:solidFill>
                <a:latin typeface="Calibri"/>
              </a:rPr>
              <a:t>Rôle</a:t>
            </a:r>
          </a:p>
          <a:p>
            <a:pPr algn="ctr">
              <a:spcAft>
                <a:spcPts val="500"/>
              </a:spcAft>
            </a:pPr>
            <a:r>
              <a:rPr sz="1150" b="0" i="0">
                <a:solidFill>
                  <a:srgbClr val="647485"/>
                </a:solidFill>
                <a:latin typeface="Calibri"/>
              </a:rPr>
              <a:t>Parcours, réalisations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377440"/>
            <a:ext cx="3429000" cy="265176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09760" y="2606040"/>
            <a:ext cx="868680" cy="868680"/>
          </a:xfrm>
          <a:prstGeom prst="ellipse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0"/>
              </a:spcAft>
            </a:pPr>
            <a:r>
              <a:rPr sz="2400" b="1" i="0">
                <a:solidFill>
                  <a:srgbClr val="84CC16"/>
                </a:solidFill>
                <a:latin typeface="Calibri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657600"/>
            <a:ext cx="2880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Prénom Nom</a:t>
            </a:r>
          </a:p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84CC16"/>
                </a:solidFill>
                <a:latin typeface="Calibri"/>
              </a:rPr>
              <a:t>Rôle</a:t>
            </a:r>
          </a:p>
          <a:p>
            <a:pPr algn="ctr">
              <a:spcAft>
                <a:spcPts val="500"/>
              </a:spcAft>
            </a:pPr>
            <a:r>
              <a:rPr sz="1150" b="0" i="0">
                <a:solidFill>
                  <a:srgbClr val="647485"/>
                </a:solidFill>
                <a:latin typeface="Calibri"/>
              </a:rPr>
              <a:t>Parcours, réalisations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989320"/>
            <a:ext cx="10543032" cy="50292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8A6D1E"/>
                </a:solidFill>
                <a:latin typeface="Calibri"/>
              </a:rPr>
              <a:t>À COMPLÉTER — renseigner ton parcours (et l'équipe), ton rôle chez CGI, et ta position sur une intégration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228600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5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La demande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Des prochaines étapes concrètes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3331464" cy="1920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359152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278282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B3A"/>
                </a:solidFill>
                <a:latin typeface="Calibri"/>
              </a:rPr>
              <a:t>1. Un pilote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Choisir ensemble une entité/BU pour un déploiement test cadré (objectifs, durée, indicateurs).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8744" y="2103120"/>
            <a:ext cx="3331464" cy="1920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3063" y="2359152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3063" y="2560320"/>
            <a:ext cx="278282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B3A"/>
                </a:solidFill>
                <a:latin typeface="Calibri"/>
              </a:rPr>
              <a:t>2. Due diligence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Ouvrir l'accès technique, sécurité et juridique (dont la propriété intellectuelle) pour évaluer l'actif.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4527" y="2103120"/>
            <a:ext cx="3331464" cy="19202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08847" y="2359152"/>
            <a:ext cx="457200" cy="10058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8847" y="2560320"/>
            <a:ext cx="278282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B3A"/>
                </a:solidFill>
                <a:latin typeface="Calibri"/>
              </a:rPr>
              <a:t>3. Cadre de deal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Discuter les termes d'un partenariat ou d'une acquisition selon les résultats du pilote.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80560"/>
            <a:ext cx="10543032" cy="868680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4515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Notre demande : lancer un pilote sur une entité, et entrer en discussion.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978408"/>
            <a:ext cx="82296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271" y="905256"/>
            <a:ext cx="82296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2143" y="822959"/>
            <a:ext cx="82296" cy="29260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76809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Konsilys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Un actif prêt. Le partenaire idéal, c'est CGI.</a:t>
            </a:r>
          </a:p>
          <a:p>
            <a:pPr algn="l">
              <a:spcAft>
                <a:spcPts val="500"/>
              </a:spcAft>
            </a:pPr>
            <a:r>
              <a:rPr sz="1700" b="0" i="0">
                <a:solidFill>
                  <a:srgbClr val="C7D2DD"/>
                </a:solidFill>
                <a:latin typeface="Calibri"/>
              </a:rPr>
              <a:t>Un produit en production, un marché que CGI connaît mieux que quiconque, et des synergies immédiates — en interne comme en offre.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84CC16"/>
                </a:solidFill>
                <a:latin typeface="Calibri"/>
              </a:rPr>
              <a:t>contact@konsilys.fr  ·  konsilys.fr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
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96112"/>
            <a:ext cx="82296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1" y="822960"/>
            <a:ext cx="82296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2143" y="731520"/>
            <a:ext cx="82296" cy="3108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6766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Konsilys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3108960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PLATEFORME SaaS POUR ESN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Pilotez votre ESN sans effort</a:t>
            </a:r>
          </a:p>
          <a:p>
            <a:pPr algn="l">
              <a:spcAft>
                <a:spcPts val="200"/>
              </a:spcAft>
            </a:pPr>
            <a:r>
              <a:rPr sz="2200" b="0" i="0">
                <a:solidFill>
                  <a:srgbClr val="C7D2DD"/>
                </a:solidFill>
                <a:latin typeface="Calibri"/>
              </a:rPr>
              <a:t>Missions, staffing, absences, recrutement et CRM —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C7D2DD"/>
                </a:solidFill>
                <a:latin typeface="Calibri"/>
              </a:rPr>
              <a:t>tout centralisé, en temps réel, pour toute votre organisation.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15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84CC16"/>
                </a:solidFill>
                <a:latin typeface="Calibri"/>
              </a:rPr>
              <a:t>konsilys.fr   ·   contact@konsilys.fr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92024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LE 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B2B3A"/>
                </a:solidFill>
                <a:latin typeface="Calibri"/>
              </a:rPr>
              <a:t>Piloter une ESN sur Excel, c'est piloter à l'aveugle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212080" cy="173736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24912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Données éclatées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647485"/>
                </a:solidFill>
                <a:latin typeface="Calibri"/>
              </a:rPr>
              <a:t>Consultants, missions, congés et CRM dispersés dans des tableurs et des mails — aucune vision consolidée.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468880"/>
            <a:ext cx="5212080" cy="173736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724912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Staffing à l'aveugle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647485"/>
                </a:solidFill>
                <a:latin typeface="Calibri"/>
              </a:rPr>
              <a:t>Difficile de savoir qui est disponible, en inter-contrat ou en fin de mission avant qu'il ne soit trop tard.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26280"/>
            <a:ext cx="5212080" cy="173736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782312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Marge floue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647485"/>
                </a:solidFill>
                <a:latin typeface="Calibri"/>
              </a:rPr>
              <a:t>CA, TJM et contribution nette recalculés à la main, avec un temps de retard et un risque d'erreur.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526280"/>
            <a:ext cx="5212080" cy="173736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782312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Process manuels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647485"/>
                </a:solidFill>
                <a:latin typeface="Calibri"/>
              </a:rPr>
              <a:t>Validation des absences par mail, relances, ressaisies : du temps perdu pour les managers.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2103120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Une seule plateforme pour tout votre cycle de vie consultant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C7D2DD"/>
                </a:solidFill>
                <a:latin typeface="Calibri"/>
              </a:rPr>
              <a:t>De l'arrivée d'un consultant à la facturation de sa mission, Konsilys centralise le pilotage opérationnel et commercial de votre ESN — accessible en quelques minutes, sans installation.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23360"/>
            <a:ext cx="2514600" cy="173736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3434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84CC16"/>
                </a:solidFill>
                <a:latin typeface="Calibri"/>
              </a:rPr>
              <a:t>Temps réel</a:t>
            </a:r>
          </a:p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Synchronisation instantanée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93592" y="4023360"/>
            <a:ext cx="2514600" cy="173736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43434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84CC16"/>
                </a:solidFill>
                <a:latin typeface="Calibri"/>
              </a:rPr>
              <a:t>6 niveaux</a:t>
            </a:r>
          </a:p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d'accès par rôle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4023360"/>
            <a:ext cx="2514600" cy="173736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2824" y="43434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84CC16"/>
                </a:solidFill>
                <a:latin typeface="Calibri"/>
              </a:rPr>
              <a:t>Excel → App</a:t>
            </a:r>
          </a:p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Onboarding express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34856" y="4023360"/>
            <a:ext cx="2514600" cy="173736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63456" y="43434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84CC16"/>
                </a:solidFill>
                <a:latin typeface="Calibri"/>
              </a:rPr>
              <a:t>Europe</a:t>
            </a:r>
          </a:p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C7D2DD"/>
                </a:solidFill>
                <a:latin typeface="Calibri"/>
              </a:rPr>
              <a:t>Données hébergées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246888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FONCTIONNALITÉS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Tout ce dont votre ESN a besoin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429000" cy="2103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" y="2240279"/>
            <a:ext cx="457200" cy="109728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88036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KPIs &amp; Pilotage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Staffing moyen, CA, TJM et contribution nette en temps réel, par exercice et trimestre.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965960"/>
            <a:ext cx="3429000" cy="2103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18888" y="2240279"/>
            <a:ext cx="457200" cy="109728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468880"/>
            <a:ext cx="288036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Tableau de bord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Approbations en attente, arrivées, inter-contrats, fins de mission imminentes.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65960"/>
            <a:ext cx="3429000" cy="2103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22208" y="2240279"/>
            <a:ext cx="457200" cy="109728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468880"/>
            <a:ext cx="288036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Gestion d'équipe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Fiches consultants (expertise, secteurs, grade), hiérarchie N+1, filtres avancés.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43400"/>
            <a:ext cx="3429000" cy="2103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568" y="4617720"/>
            <a:ext cx="457200" cy="109728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288036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Missions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Assistance technique (TJM) et forfaits. CA, marge et contribution calculés automatiquement.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343400"/>
            <a:ext cx="3429000" cy="2103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18888" y="4617720"/>
            <a:ext cx="457200" cy="109728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288036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Planning Gantt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Vue mensuelle par consultant : missions, congés et inter-contrats sur une timeline.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343400"/>
            <a:ext cx="3429000" cy="210312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22208" y="4617720"/>
            <a:ext cx="457200" cy="109728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846320"/>
            <a:ext cx="288036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Absences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9 types gérés, jours ouvrés hors fériés, validation par le N+1 avec motif.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74320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MODULES OPTIONNELS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Étendez la plateforme à vos besoins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349240" cy="3383280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560320"/>
            <a:ext cx="1371600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54680"/>
            <a:ext cx="4617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Recrutement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7D2DD"/>
                </a:solidFill>
                <a:latin typeface="Calibri"/>
              </a:rPr>
              <a:t>Pipeline candidats à 8 statuts personnalisables · recruteur assigné par candidat · suivi et filtres · conversion automatique d'un candidat recruté en consultant de l'équipe.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9204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4CC16"/>
                </a:solidFill>
                <a:latin typeface="Calibri"/>
              </a:rPr>
              <a:t>59 € / mois · par entreprise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194560"/>
            <a:ext cx="5349240" cy="3383280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2560320"/>
            <a:ext cx="1371600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154680"/>
            <a:ext cx="4617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Business Développement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7D2DD"/>
                </a:solidFill>
                <a:latin typeface="Calibri"/>
              </a:rPr>
              <a:t>CRM Comptes, Contacts et Pipeline d'opportunités · KPIs commerciaux et entonnoir de vente · une opportunité gagnée crée automatiquement la mission correspondante.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89204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84CC16"/>
                </a:solidFill>
                <a:latin typeface="Calibri"/>
              </a:rPr>
              <a:t>59 € / mois · par entreprise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2194560" cy="384048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1B2B3A"/>
                </a:solidFill>
                <a:latin typeface="Calibri"/>
              </a:rPr>
              <a:t>MISE EN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Opérationnel en quelques minutes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77440"/>
            <a:ext cx="548640" cy="54864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B2B3A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3172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Créez votre espace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C7D2DD"/>
                </a:solidFill>
                <a:latin typeface="Calibri"/>
              </a:rPr>
              <a:t>Souscrivez en ligne : votre organisation est prête et vous en êtes l'administrateur.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B2B3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Importez vos consultants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C7D2DD"/>
                </a:solidFill>
                <a:latin typeface="Calibri"/>
              </a:rPr>
              <a:t>Déposez votre export Excel/CSV : les colonnes sont reconnues automatiquement, les fiches créées et rattachées à leur N+1.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297680"/>
            <a:ext cx="548640" cy="54864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B2B3A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25196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Ajoutez votre équipe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C7D2DD"/>
                </a:solidFill>
                <a:latin typeface="Calibri"/>
              </a:rPr>
              <a:t>Chaque membre reçoit un accès à son niveau ; il définit son mot de passe et se connecte.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257800"/>
            <a:ext cx="548640" cy="548640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B2B3A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21208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Pilotez en temps réel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C7D2DD"/>
                </a:solidFill>
                <a:latin typeface="Calibri"/>
              </a:rPr>
              <a:t>KPIs, missions, planning, absences et CRM synchronisés pour toute l'organisation.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73736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Vos données, isolées et protégées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212080" cy="160020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146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Isolation par entreprise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Chaque organisation est étanche : la sécurité au niveau des lignes (RLS) garantit qu'aucune donnée ne fuit d'une entreprise à l'autre.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286000"/>
            <a:ext cx="5212080" cy="160020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5146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Hébergement en Europe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Données hébergées en Europe, conformité RGPD.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5212080" cy="160020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891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Accès par rôle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6 niveaux d'accès : chacun ne voit et ne modifie que ce qui le concerne, selon la hiérarchie.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60520"/>
            <a:ext cx="5212080" cy="160020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43891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B2B3A"/>
                </a:solidFill>
                <a:latin typeface="Calibri"/>
              </a:rPr>
              <a:t>Paiement sécurisé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647485"/>
                </a:solidFill>
                <a:latin typeface="Calibri"/>
              </a:rPr>
              <a:t>Souscription et facturation gérées par Stripe. Aucune donnée bancaire stockée par Konsilys.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371600" cy="384048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TARIFS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B3A"/>
                </a:solidFill>
                <a:latin typeface="Calibri"/>
              </a:rPr>
              <a:t>Un tarif par rôle, sans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47485"/>
                </a:solidFill>
                <a:latin typeface="Calibri"/>
              </a:rPr>
              <a:t>Facturation mensuelle ou annuelle (2 mois offerts). La licence Admin est incluse à l'inscription.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429000" cy="12344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532888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2B3A"/>
                </a:solidFill>
                <a:latin typeface="Calibri"/>
              </a:rPr>
              <a:t>Super Admin</a:t>
            </a:r>
          </a:p>
          <a:p>
            <a:r>
              <a:rPr sz="2600" b="1">
                <a:solidFill>
                  <a:srgbClr val="1B2B3A"/>
                </a:solidFill>
                <a:latin typeface="Calibri"/>
              </a:rPr>
              <a:t>49 €</a:t>
            </a:r>
            <a:r>
              <a:rPr sz="1200">
                <a:solidFill>
                  <a:srgbClr val="647485"/>
                </a:solidFill>
                <a:latin typeface="Calibri"/>
              </a:rPr>
              <a:t> /mois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331720"/>
            <a:ext cx="3429000" cy="1234440"/>
          </a:xfrm>
          <a:prstGeom prst="round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2532888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84CC16"/>
                </a:solidFill>
                <a:latin typeface="Calibri"/>
              </a:rPr>
              <a:t>Admin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39 €</a:t>
            </a:r>
            <a:r>
              <a:rPr sz="1200">
                <a:solidFill>
                  <a:srgbClr val="C7D2DD"/>
                </a:solidFill>
                <a:latin typeface="Calibri"/>
              </a:rPr>
              <a:t> /mois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331720"/>
            <a:ext cx="3429000" cy="12344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2208" y="2532888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2B3A"/>
                </a:solidFill>
                <a:latin typeface="Calibri"/>
              </a:rPr>
              <a:t>Gestionnaire</a:t>
            </a:r>
          </a:p>
          <a:p>
            <a:r>
              <a:rPr sz="2600" b="1">
                <a:solidFill>
                  <a:srgbClr val="1B2B3A"/>
                </a:solidFill>
                <a:latin typeface="Calibri"/>
              </a:rPr>
              <a:t>29 €</a:t>
            </a:r>
            <a:r>
              <a:rPr sz="1200">
                <a:solidFill>
                  <a:srgbClr val="647485"/>
                </a:solidFill>
                <a:latin typeface="Calibri"/>
              </a:rPr>
              <a:t> /mois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22191"/>
            <a:ext cx="3429000" cy="12344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023359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2B3A"/>
                </a:solidFill>
                <a:latin typeface="Calibri"/>
              </a:rPr>
              <a:t>Recruteur</a:t>
            </a:r>
          </a:p>
          <a:p>
            <a:r>
              <a:rPr sz="2600" b="1">
                <a:solidFill>
                  <a:srgbClr val="1B2B3A"/>
                </a:solidFill>
                <a:latin typeface="Calibri"/>
              </a:rPr>
              <a:t>22 €</a:t>
            </a:r>
            <a:r>
              <a:rPr sz="1200">
                <a:solidFill>
                  <a:srgbClr val="647485"/>
                </a:solidFill>
                <a:latin typeface="Calibri"/>
              </a:rPr>
              <a:t> /mois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822191"/>
            <a:ext cx="3429000" cy="12344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4023359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2B3A"/>
                </a:solidFill>
                <a:latin typeface="Calibri"/>
              </a:rPr>
              <a:t>Business Manager</a:t>
            </a:r>
          </a:p>
          <a:p>
            <a:r>
              <a:rPr sz="2600" b="1">
                <a:solidFill>
                  <a:srgbClr val="1B2B3A"/>
                </a:solidFill>
                <a:latin typeface="Calibri"/>
              </a:rPr>
              <a:t>22 €</a:t>
            </a:r>
            <a:r>
              <a:rPr sz="1200">
                <a:solidFill>
                  <a:srgbClr val="647485"/>
                </a:solidFill>
                <a:latin typeface="Calibri"/>
              </a:rPr>
              <a:t> /mois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22191"/>
            <a:ext cx="3429000" cy="1234440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4023359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2B3A"/>
                </a:solidFill>
                <a:latin typeface="Calibri"/>
              </a:rPr>
              <a:t>Utilisateur</a:t>
            </a:r>
          </a:p>
          <a:p>
            <a:r>
              <a:rPr sz="2600" b="1">
                <a:solidFill>
                  <a:srgbClr val="1B2B3A"/>
                </a:solidFill>
                <a:latin typeface="Calibri"/>
              </a:rPr>
              <a:t>8 €</a:t>
            </a:r>
            <a:r>
              <a:rPr sz="1200">
                <a:solidFill>
                  <a:srgbClr val="647485"/>
                </a:solidFill>
                <a:latin typeface="Calibri"/>
              </a:rPr>
              <a:t> /mois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40680"/>
            <a:ext cx="10543032" cy="8686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961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B3A"/>
                </a:solidFill>
                <a:latin typeface="Calibri"/>
              </a:rPr>
              <a:t>+ 2 modules optionnels </a:t>
            </a:r>
            <a:r>
              <a:rPr sz="1350">
                <a:solidFill>
                  <a:srgbClr val="647485"/>
                </a:solidFill>
                <a:latin typeface="Calibri"/>
              </a:rPr>
              <a:t>(Recrutement, Business Développement) à 59 € / mois par entreprise.  Tarifs publics et souscription en libre-service sur konsilys.fr.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4748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987552"/>
            <a:ext cx="82296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1" y="914400"/>
            <a:ext cx="82296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2143" y="822959"/>
            <a:ext cx="82296" cy="310896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76809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Konsilys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Prêt à piloter votre ESN autrement ?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7D2DD"/>
                </a:solidFill>
                <a:latin typeface="Calibri"/>
              </a:rPr>
              <a:t>Souscrivez en ligne dès aujourd'hui, ou demandez une démonstration personnalisée avec vos propres données.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480560"/>
            <a:ext cx="3017520" cy="777240"/>
          </a:xfrm>
          <a:prstGeom prst="round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B2B3A"/>
                </a:solidFill>
                <a:latin typeface="Calibri"/>
              </a:rPr>
              <a:t>konsilys.fr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617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contact@konsilys.fr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
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896112"/>
            <a:ext cx="82296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271" y="822960"/>
            <a:ext cx="82296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2143" y="731520"/>
            <a:ext cx="82296" cy="310896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67665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Konsilys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828800"/>
            <a:ext cx="2926080" cy="384048"/>
          </a:xfrm>
          <a:prstGeom prst="round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1B2B3A"/>
                </a:solidFill>
                <a:latin typeface="Calibri"/>
              </a:rPr>
              <a:t>DOSSIER INVESTISSEURS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Le système d'exploitation des ESN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C7D2DD"/>
                </a:solidFill>
                <a:latin typeface="Calibri"/>
              </a:rPr>
              <a:t>Konsilys digitalise le pilotage opérationnel et commercial des sociétés de conseil et de prestation — un marché massif encore géré sur tableur.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84CC16"/>
                </a:solidFill>
                <a:latin typeface="Calibri"/>
              </a:rPr>
              <a:t>konsilys.fr   ·   contact@konsilys.fr   ·   Document confidentiel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94360"/>
            <a:ext cx="2286000" cy="384048"/>
          </a:xfrm>
          <a:prstGeom prst="round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PROBLÈME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B3A"/>
                </a:solidFill>
                <a:latin typeface="Calibri"/>
              </a:rPr>
              <a:t>Les ESN pilotent un business complexe avec des outils inadaptés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5212080" cy="164592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514600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50" b="1" i="0">
                <a:solidFill>
                  <a:srgbClr val="1B2B3A"/>
                </a:solidFill>
                <a:latin typeface="Calibri"/>
              </a:rPr>
              <a:t>Un secteur énorme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47485"/>
                </a:solidFill>
                <a:latin typeface="Calibri"/>
              </a:rPr>
              <a:t>Les ESN / sociétés de conseil emploient des centaines de milliers de consultants en France, des millions en Europe.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286000"/>
            <a:ext cx="5212080" cy="164592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514600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50" b="1" i="0">
                <a:solidFill>
                  <a:srgbClr val="1B2B3A"/>
                </a:solidFill>
                <a:latin typeface="Calibri"/>
              </a:rPr>
              <a:t>Des outils fragmentés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47485"/>
                </a:solidFill>
                <a:latin typeface="Calibri"/>
              </a:rPr>
              <a:t>La majorité pilote sur Excel + mails, ou juxtapose un ERP lourd et des tableurs — sans vision temps réel.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06240"/>
            <a:ext cx="5212080" cy="164592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434840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50" b="1" i="0">
                <a:solidFill>
                  <a:srgbClr val="1B2B3A"/>
                </a:solidFill>
                <a:latin typeface="Calibri"/>
              </a:rPr>
              <a:t>Un besoin transverse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47485"/>
                </a:solidFill>
                <a:latin typeface="Calibri"/>
              </a:rPr>
              <a:t>Staffing, marge, absences, recrutement et CRM sont interdépendants mais rarement dans un même outil.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206240"/>
            <a:ext cx="5212080" cy="164592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4434840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50" b="1" i="0">
                <a:solidFill>
                  <a:srgbClr val="1B2B3A"/>
                </a:solidFill>
                <a:latin typeface="Calibri"/>
              </a:rPr>
              <a:t>Un coût caché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47485"/>
                </a:solidFill>
                <a:latin typeface="Calibri"/>
              </a:rPr>
              <a:t>Inter-contrats mal anticipés, marges érodées, temps managérial gaspillé en ressaisies.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6309360"/>
            <a:ext cx="10543032" cy="457200"/>
          </a:xfrm>
          <a:prstGeom prst="roundRect">
            <a:avLst/>
          </a:prstGeom>
          <a:solidFill>
            <a:srgbClr val="FFF7E0"/>
          </a:solidFill>
          <a:ln w="12700">
            <a:solidFill>
              <a:srgbClr val="E9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8A6D1E"/>
                </a:solidFill>
                <a:latin typeface="Calibri"/>
              </a:rPr>
              <a:t>À COMPLÉTER — chiffrer le TAM/SAM/SOM (nb d'ESN cibles × ARPA) avec vos sources marché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4748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594360"/>
            <a:ext cx="2011680" cy="384048"/>
          </a:xfrm>
          <a:prstGeom prst="round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1B2B3A"/>
                </a:solidFill>
                <a:latin typeface="Calibr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Une plateforme unique, du staffing à la facturation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3502152" cy="301752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560320"/>
            <a:ext cx="502920" cy="118872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86207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84CC16"/>
                </a:solidFill>
                <a:latin typeface="Calibri"/>
              </a:rPr>
              <a:t>Opérationnel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7D2DD"/>
                </a:solidFill>
                <a:latin typeface="Calibri"/>
              </a:rPr>
              <a:t>Consultants, missions, planning Gantt, absences avec validation N+1, KPIs temps réel (staffing, CA, TJM, contribution).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99432" y="2240280"/>
            <a:ext cx="3502152" cy="301752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19472" y="2560320"/>
            <a:ext cx="502920" cy="118872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19472" y="2834640"/>
            <a:ext cx="286207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84CC16"/>
                </a:solidFill>
                <a:latin typeface="Calibri"/>
              </a:rPr>
              <a:t>Commercial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7D2DD"/>
                </a:solidFill>
                <a:latin typeface="Calibri"/>
              </a:rPr>
              <a:t>Module CRM : comptes, contacts, pipeline d'opportunités ; une opportunité gagnée génère automatiquement la mission.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75904" y="2240280"/>
            <a:ext cx="3502152" cy="301752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95944" y="2560320"/>
            <a:ext cx="502920" cy="118872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95944" y="2834640"/>
            <a:ext cx="286207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84CC16"/>
                </a:solidFill>
                <a:latin typeface="Calibri"/>
              </a:rPr>
              <a:t>Recrutement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7D2DD"/>
                </a:solidFill>
                <a:latin typeface="Calibri"/>
              </a:rPr>
              <a:t>Module ATS : pipeline candidats, recruteurs assignés, conversion automatique d'un recruté en consultant.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321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C7D2DD"/>
                </a:solidFill>
                <a:latin typeface="Calibri"/>
              </a:rPr>
              <a:t>Un seul modèle de données, multi-tenant et sécurisé (isolation par entreprise), accessible en quelques minutes sans installation.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4748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94360"/>
            <a:ext cx="2286000" cy="384048"/>
          </a:xfrm>
          <a:prstGeom prst="round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DIFFÉRENCIATION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B3A"/>
                </a:solidFill>
                <a:latin typeface="Calibri"/>
              </a:rPr>
              <a:t>Pourquoi Konsilys gagne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3200400" cy="868680"/>
          </a:xfrm>
          <a:prstGeom prst="round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5000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84CC16"/>
                </a:solidFill>
                <a:latin typeface="Calibri"/>
              </a:rPr>
              <a:t>vs Tableurs (Excel)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2148840"/>
            <a:ext cx="7223760" cy="86868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2276856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B2B3A"/>
                </a:solidFill>
                <a:latin typeface="Calibri"/>
              </a:rPr>
              <a:t>Temps réel, multi-utilisateurs, validation et historique, zéro ressaisie — là où Excel est statique et fragile.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172968"/>
            <a:ext cx="3200400" cy="868680"/>
          </a:xfrm>
          <a:prstGeom prst="round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374136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84CC16"/>
                </a:solidFill>
                <a:latin typeface="Calibri"/>
              </a:rPr>
              <a:t>vs ERP lourds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3172968"/>
            <a:ext cx="7223760" cy="86868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3300984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B2B3A"/>
                </a:solidFill>
                <a:latin typeface="Calibri"/>
              </a:rPr>
              <a:t>Déploiement en minutes et prise en main immédiate, au lieu de mois d'intégration et d'un coût élevé.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197096"/>
            <a:ext cx="3200400" cy="868680"/>
          </a:xfrm>
          <a:prstGeom prst="round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398264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84CC16"/>
                </a:solidFill>
                <a:latin typeface="Calibri"/>
              </a:rPr>
              <a:t>vs Outils spécialisés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4197096"/>
            <a:ext cx="7223760" cy="86868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4325112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B2B3A"/>
                </a:solidFill>
                <a:latin typeface="Calibri"/>
              </a:rPr>
              <a:t>Une seule plateforme couvre staffing + commercial + recrutement, au lieu d'empiler 3 abonnements qui ne se parlent pas.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221224"/>
            <a:ext cx="3200400" cy="868680"/>
          </a:xfrm>
          <a:prstGeom prst="round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42239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84CC16"/>
                </a:solidFill>
                <a:latin typeface="Calibri"/>
              </a:rPr>
              <a:t>Modèle par licence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5221224"/>
            <a:ext cx="7223760" cy="86868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534924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B2B3A"/>
                </a:solidFill>
                <a:latin typeface="Calibri"/>
              </a:rPr>
              <a:t>Tarif par rôle et par siège : adoption progressive et revenu qui croît avec le client.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4748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594360"/>
            <a:ext cx="2377440" cy="384048"/>
          </a:xfrm>
          <a:prstGeom prst="round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1B2B3A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SaaS par licence + modules, revenu extensible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7D2DD"/>
                </a:solidFill>
                <a:latin typeface="Calibri"/>
              </a:rPr>
              <a:t>Chaque utilisateur = une licence mensuelle selon son rôle. La valeur croît avec la taille de l'équipe (land &amp; expand).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34640"/>
            <a:ext cx="2011680" cy="137160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090672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 i="0">
                <a:solidFill>
                  <a:srgbClr val="84CC16"/>
                </a:solidFill>
                <a:latin typeface="Calibri"/>
              </a:rPr>
              <a:t>8 €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C7D2DD"/>
                </a:solidFill>
                <a:latin typeface="Calibri"/>
              </a:rPr>
              <a:t>Utilisateur</a:t>
            </a:r>
          </a:p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647485"/>
                </a:solidFill>
                <a:latin typeface="Calibri"/>
              </a:rPr>
              <a:t>/ mois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2834640"/>
            <a:ext cx="2011680" cy="137160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3090672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 i="0">
                <a:solidFill>
                  <a:srgbClr val="84CC16"/>
                </a:solidFill>
                <a:latin typeface="Calibri"/>
              </a:rPr>
              <a:t>22 €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C7D2DD"/>
                </a:solidFill>
                <a:latin typeface="Calibri"/>
              </a:rPr>
              <a:t>Recruteur / BM</a:t>
            </a:r>
          </a:p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647485"/>
                </a:solidFill>
                <a:latin typeface="Calibri"/>
              </a:rPr>
              <a:t>/ mois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2834640"/>
            <a:ext cx="2011680" cy="137160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3090672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 i="0">
                <a:solidFill>
                  <a:srgbClr val="84CC16"/>
                </a:solidFill>
                <a:latin typeface="Calibri"/>
              </a:rPr>
              <a:t>29 €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C7D2DD"/>
                </a:solidFill>
                <a:latin typeface="Calibri"/>
              </a:rPr>
              <a:t>Gestionnaire</a:t>
            </a:r>
          </a:p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647485"/>
                </a:solidFill>
                <a:latin typeface="Calibri"/>
              </a:rPr>
              <a:t>/ mois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2834640"/>
            <a:ext cx="2011680" cy="137160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3090672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 i="0">
                <a:solidFill>
                  <a:srgbClr val="84CC16"/>
                </a:solidFill>
                <a:latin typeface="Calibri"/>
              </a:rPr>
              <a:t>39 €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C7D2DD"/>
                </a:solidFill>
                <a:latin typeface="Calibri"/>
              </a:rPr>
              <a:t>Admin</a:t>
            </a:r>
          </a:p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647485"/>
                </a:solidFill>
                <a:latin typeface="Calibri"/>
              </a:rPr>
              <a:t>/ mois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2834640"/>
            <a:ext cx="2011680" cy="137160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3090672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 i="0">
                <a:solidFill>
                  <a:srgbClr val="84CC16"/>
                </a:solidFill>
                <a:latin typeface="Calibri"/>
              </a:rPr>
              <a:t>49 €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C7D2DD"/>
                </a:solidFill>
                <a:latin typeface="Calibri"/>
              </a:rPr>
              <a:t>Super Admin</a:t>
            </a:r>
          </a:p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647485"/>
                </a:solidFill>
                <a:latin typeface="Calibri"/>
              </a:rPr>
              <a:t>/ mois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572000"/>
            <a:ext cx="3502152" cy="1463040"/>
          </a:xfrm>
          <a:prstGeom prst="roundRect">
            <a:avLst/>
          </a:prstGeom>
          <a:solidFill>
            <a:srgbClr val="0F1720"/>
          </a:solidFill>
          <a:ln w="12700">
            <a:solidFill>
              <a:srgbClr val="2A3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800600"/>
            <a:ext cx="29535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84CC16"/>
                </a:solidFill>
                <a:latin typeface="Calibri"/>
              </a:rPr>
              <a:t>Expansion par sièges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C7D2DD"/>
                </a:solidFill>
                <a:latin typeface="Calibri"/>
              </a:rPr>
              <a:t>le revenu par compte augmente à chaque consultant ajouté.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99432" y="4572000"/>
            <a:ext cx="3502152" cy="1463040"/>
          </a:xfrm>
          <a:prstGeom prst="roundRect">
            <a:avLst/>
          </a:prstGeom>
          <a:solidFill>
            <a:srgbClr val="0F1720"/>
          </a:solidFill>
          <a:ln w="12700">
            <a:solidFill>
              <a:srgbClr val="2A3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3752" y="4800600"/>
            <a:ext cx="29535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84CC16"/>
                </a:solidFill>
                <a:latin typeface="Calibri"/>
              </a:rPr>
              <a:t>Modules add-on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C7D2DD"/>
                </a:solidFill>
                <a:latin typeface="Calibri"/>
              </a:rPr>
              <a:t>Recrutement et Business Développement : +59 €/mois par entreprise chacun.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75904" y="4572000"/>
            <a:ext cx="3502152" cy="1463040"/>
          </a:xfrm>
          <a:prstGeom prst="roundRect">
            <a:avLst/>
          </a:prstGeom>
          <a:solidFill>
            <a:srgbClr val="0F1720"/>
          </a:solidFill>
          <a:ln w="12700">
            <a:solidFill>
              <a:srgbClr val="2A3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50224" y="4800600"/>
            <a:ext cx="29535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84CC16"/>
                </a:solidFill>
                <a:latin typeface="Calibri"/>
              </a:rPr>
              <a:t>Annuel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C7D2DD"/>
                </a:solidFill>
                <a:latin typeface="Calibri"/>
              </a:rPr>
              <a:t>engagement annuel avec 2 mois offerts → trésorerie et rétention.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4748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94360"/>
            <a:ext cx="2286000" cy="384048"/>
          </a:xfrm>
          <a:prstGeom prst="round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B3A"/>
                </a:solidFill>
                <a:latin typeface="Calibri"/>
              </a:rPr>
              <a:t>Deux moteurs d'acquisition complémentaires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5349240" cy="237744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" y="2514600"/>
            <a:ext cx="2194560" cy="384048"/>
          </a:xfrm>
          <a:prstGeom prst="round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SELF-SERVICE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108960"/>
            <a:ext cx="4617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1B2B3A"/>
                </a:solidFill>
                <a:latin typeface="Calibri"/>
              </a:rPr>
              <a:t>Libre-service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647485"/>
                </a:solidFill>
                <a:latin typeface="Calibri"/>
              </a:rPr>
              <a:t>Tarifs publics et souscription en ligne : l'ESN crée son espace, importe son équipe et paie en autonomie. Coût d'acquisition faible, cycle court.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194560"/>
            <a:ext cx="5349240" cy="237744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0" y="2514600"/>
            <a:ext cx="2194560" cy="384048"/>
          </a:xfrm>
          <a:prstGeom prst="round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SALES-LED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108960"/>
            <a:ext cx="4617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1B2B3A"/>
                </a:solidFill>
                <a:latin typeface="Calibri"/>
              </a:rPr>
              <a:t>Vente consultative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647485"/>
                </a:solidFill>
                <a:latin typeface="Calibri"/>
              </a:rPr>
              <a:t>Pour les organisations plus grandes : démonstration avec leurs données, accompagnement à la migration et à l'onboarding.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00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1">
                <a:solidFill>
                  <a:srgbClr val="647485"/>
                </a:solidFill>
                <a:latin typeface="Calibri"/>
              </a:rPr>
              <a:t>Leviers : référencement du site vitrine, démonstration en un clic, et effet de recommandation intra-secteur (les dirigeants d'ESN se connaissent).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852160"/>
            <a:ext cx="10543032" cy="457200"/>
          </a:xfrm>
          <a:prstGeom prst="roundRect">
            <a:avLst/>
          </a:prstGeom>
          <a:solidFill>
            <a:srgbClr val="FFF7E0"/>
          </a:solidFill>
          <a:ln w="12700">
            <a:solidFill>
              <a:srgbClr val="E9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8A6D1E"/>
                </a:solidFill>
                <a:latin typeface="Calibri"/>
              </a:rPr>
              <a:t>À COMPLÉTER — ajouter vos canaux réels (LinkedIn, partenariats, salons) et le CAC/LTV visés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4748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594360"/>
            <a:ext cx="1737360" cy="384048"/>
          </a:xfrm>
          <a:prstGeom prst="round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1B2B3A"/>
                </a:solidFill>
                <a:latin typeface="Calibri"/>
              </a:rPr>
              <a:t>STATUT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Produit en production, premiers clients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2514600" cy="182880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468879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84CC16"/>
                </a:solidFill>
                <a:latin typeface="Calibri"/>
              </a:rPr>
              <a:t>Live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C7D2DD"/>
                </a:solidFill>
                <a:latin typeface="Calibri"/>
              </a:rPr>
              <a:t>Produit déployé en production (konsilys.fr)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93592" y="2194560"/>
            <a:ext cx="2514600" cy="182880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22191" y="2468879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84CC16"/>
                </a:solidFill>
                <a:latin typeface="Calibri"/>
              </a:rPr>
              <a:t>Multi-tenant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C7D2DD"/>
                </a:solidFill>
                <a:latin typeface="Calibri"/>
              </a:rPr>
              <a:t>Plusieurs entreprises actives sur la plateforme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64224" y="2194560"/>
            <a:ext cx="2514600" cy="182880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92824" y="2468879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84CC16"/>
                </a:solidFill>
                <a:latin typeface="Calibri"/>
              </a:rPr>
              <a:t>Paiement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C7D2DD"/>
                </a:solidFill>
                <a:latin typeface="Calibri"/>
              </a:rPr>
              <a:t>Souscription Stripe opérationnelle de bout en bout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34856" y="2194560"/>
            <a:ext cx="2514600" cy="182880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63456" y="2468879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84CC16"/>
                </a:solidFill>
                <a:latin typeface="Calibri"/>
              </a:rPr>
              <a:t>Modules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C7D2DD"/>
                </a:solidFill>
                <a:latin typeface="Calibri"/>
              </a:rPr>
              <a:t>Recrutement &amp; CRM commercial livrés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663440"/>
            <a:ext cx="10543032" cy="457200"/>
          </a:xfrm>
          <a:prstGeom prst="roundRect">
            <a:avLst/>
          </a:prstGeom>
          <a:solidFill>
            <a:srgbClr val="FFF7E0"/>
          </a:solidFill>
          <a:ln w="12700">
            <a:solidFill>
              <a:srgbClr val="E9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8A6D1E"/>
                </a:solidFill>
                <a:latin typeface="Calibri"/>
              </a:rPr>
              <a:t>À COMPLÉTER — chiffrer la traction : nb d'ESN clientes, consultants gérés, MRR, croissance MoM, rétention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C7D2DD"/>
                </a:solidFill>
                <a:latin typeface="Calibri"/>
              </a:rPr>
              <a:t>Le produit est complet et vendable dès aujourd'hui : l'enjeu est désormais l'accélération commerciale.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4748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94360"/>
            <a:ext cx="2286000" cy="384048"/>
          </a:xfrm>
          <a:prstGeom prst="round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B3A"/>
                </a:solidFill>
                <a:latin typeface="Calibri"/>
              </a:rPr>
              <a:t>Ce qui vient ensuite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194560"/>
            <a:ext cx="502920" cy="502920"/>
          </a:xfrm>
          <a:prstGeom prst="ellipse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1B2B3A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00200" y="2103120"/>
            <a:ext cx="9784080" cy="105156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74519" y="2212848"/>
            <a:ext cx="9235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B2B3A"/>
                </a:solidFill>
                <a:latin typeface="Calibri"/>
              </a:rPr>
              <a:t>Court terme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47485"/>
                </a:solidFill>
                <a:latin typeface="Calibri"/>
              </a:rPr>
              <a:t>Facturation &amp; exports comptables, notifications avancées, tableau de bord dirigeant enrichi.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429000"/>
            <a:ext cx="502920" cy="502920"/>
          </a:xfrm>
          <a:prstGeom prst="ellipse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1B2B3A"/>
                </a:solidFill>
                <a:latin typeface="Calibr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3337560"/>
            <a:ext cx="9784080" cy="105156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3447288"/>
            <a:ext cx="9235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B2B3A"/>
                </a:solidFill>
                <a:latin typeface="Calibri"/>
              </a:rPr>
              <a:t>Moyen terme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47485"/>
                </a:solidFill>
                <a:latin typeface="Calibri"/>
              </a:rPr>
              <a:t>Intégrations (Teams déjà en place, puis outils RH/paie et signature), API ouverte, application mobile.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663440"/>
            <a:ext cx="502920" cy="502920"/>
          </a:xfrm>
          <a:prstGeom prst="ellipse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1B2B3A"/>
                </a:solidFill>
                <a:latin typeface="Calibri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00200" y="4572000"/>
            <a:ext cx="9784080" cy="105156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19" y="4681727"/>
            <a:ext cx="9235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B2B3A"/>
                </a:solidFill>
                <a:latin typeface="Calibri"/>
              </a:rPr>
              <a:t>Vision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47485"/>
                </a:solidFill>
                <a:latin typeface="Calibri"/>
              </a:rPr>
              <a:t>Devenir la couche de pilotage standard des ESN : intelligence de staffing et recommandations basées sur les données.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6172200"/>
            <a:ext cx="10543032" cy="457200"/>
          </a:xfrm>
          <a:prstGeom prst="roundRect">
            <a:avLst/>
          </a:prstGeom>
          <a:solidFill>
            <a:srgbClr val="FFF7E0"/>
          </a:solidFill>
          <a:ln w="12700">
            <a:solidFill>
              <a:srgbClr val="E9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8A6D1E"/>
                </a:solidFill>
                <a:latin typeface="Calibri"/>
              </a:rPr>
              <a:t>À COMPLÉTER — prioriser selon vos retours clients et jalons produit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4748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94360"/>
            <a:ext cx="2286000" cy="384048"/>
          </a:xfrm>
          <a:prstGeom prst="round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B3A"/>
                </a:solidFill>
                <a:latin typeface="Calibri"/>
              </a:rPr>
              <a:t>Les personnes derrière Konsilys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3429000" cy="292608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57400" y="2560320"/>
            <a:ext cx="960120" cy="960120"/>
          </a:xfrm>
          <a:prstGeom prst="ellipse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84CC16"/>
                </a:solidFill>
                <a:latin typeface="Calibri"/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749039"/>
            <a:ext cx="2880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1B2B3A"/>
                </a:solidFill>
                <a:latin typeface="Calibri"/>
              </a:rPr>
              <a:t>Prénom Nom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84CC16"/>
                </a:solidFill>
                <a:latin typeface="Calibri"/>
              </a:rPr>
              <a:t>Rôle</a:t>
            </a:r>
          </a:p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647485"/>
                </a:solidFill>
                <a:latin typeface="Calibri"/>
              </a:rPr>
              <a:t>Expérience clé, réalisations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286000"/>
            <a:ext cx="3429000" cy="292608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60720" y="2560320"/>
            <a:ext cx="960120" cy="960120"/>
          </a:xfrm>
          <a:prstGeom prst="ellipse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84CC16"/>
                </a:solidFill>
                <a:latin typeface="Calibri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3749039"/>
            <a:ext cx="2880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1B2B3A"/>
                </a:solidFill>
                <a:latin typeface="Calibri"/>
              </a:rPr>
              <a:t>Prénom Nom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84CC16"/>
                </a:solidFill>
                <a:latin typeface="Calibri"/>
              </a:rPr>
              <a:t>Rôle</a:t>
            </a:r>
          </a:p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647485"/>
                </a:solidFill>
                <a:latin typeface="Calibri"/>
              </a:rPr>
              <a:t>Expérience clé, réalisations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286000"/>
            <a:ext cx="3429000" cy="292608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64040" y="2560320"/>
            <a:ext cx="960120" cy="960120"/>
          </a:xfrm>
          <a:prstGeom prst="ellipse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84CC16"/>
                </a:solidFill>
                <a:latin typeface="Calibri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749039"/>
            <a:ext cx="2880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1B2B3A"/>
                </a:solidFill>
                <a:latin typeface="Calibri"/>
              </a:rPr>
              <a:t>Prénom Nom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84CC16"/>
                </a:solidFill>
                <a:latin typeface="Calibri"/>
              </a:rPr>
              <a:t>Rôle</a:t>
            </a:r>
          </a:p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647485"/>
                </a:solidFill>
                <a:latin typeface="Calibri"/>
              </a:rPr>
              <a:t>Expérience clé, réalisations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806440"/>
            <a:ext cx="10543032" cy="457200"/>
          </a:xfrm>
          <a:prstGeom prst="roundRect">
            <a:avLst/>
          </a:prstGeom>
          <a:solidFill>
            <a:srgbClr val="FFF7E0"/>
          </a:solidFill>
          <a:ln w="12700">
            <a:solidFill>
              <a:srgbClr val="E9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8A6D1E"/>
                </a:solidFill>
                <a:latin typeface="Calibri"/>
              </a:rPr>
              <a:t>À COMPLÉTER — renseigner les fondateurs, rôles et parcours (produit/tech/commerce) et conseillers éventuels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4748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594360"/>
            <a:ext cx="1554480" cy="384048"/>
          </a:xfrm>
          <a:prstGeom prst="round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1B2B3A"/>
                </a:solidFill>
                <a:latin typeface="Calibri"/>
              </a:rPr>
              <a:t>LEVÉE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Financement recherché &amp; usage des fonds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3502152" cy="201168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29535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84CC16"/>
                </a:solidFill>
                <a:latin typeface="Calibri"/>
              </a:rPr>
              <a:t>Produit &amp; Tech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7D2DD"/>
                </a:solidFill>
                <a:latin typeface="Calibri"/>
              </a:rPr>
              <a:t>Facturation, mobile, intégrations, fiabilité.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99432" y="2377440"/>
            <a:ext cx="3502152" cy="201168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3752" y="2697480"/>
            <a:ext cx="29535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84CC16"/>
                </a:solidFill>
                <a:latin typeface="Calibri"/>
              </a:rPr>
              <a:t>Commercial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7D2DD"/>
                </a:solidFill>
                <a:latin typeface="Calibri"/>
              </a:rPr>
              <a:t>Équipe de vente et marketing pour accélérer l'acquisition.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75904" y="2377440"/>
            <a:ext cx="3502152" cy="201168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0224" y="2697480"/>
            <a:ext cx="29535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84CC16"/>
                </a:solidFill>
                <a:latin typeface="Calibri"/>
              </a:rPr>
              <a:t>Support &amp; Succès client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7D2DD"/>
                </a:solidFill>
                <a:latin typeface="Calibri"/>
              </a:rPr>
              <a:t>Onboarding et rétention à mesure que la base grandit.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892040"/>
            <a:ext cx="10543032" cy="914400"/>
          </a:xfrm>
          <a:prstGeom prst="roundRect">
            <a:avLst/>
          </a:prstGeom>
          <a:solidFill>
            <a:srgbClr val="0F1720"/>
          </a:solidFill>
          <a:ln w="15875">
            <a:solidFill>
              <a:srgbClr val="84C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029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Montant recherché : ___  M€   ·   Horizon : ___ mois de runway   ·   Objectif : ___ ARR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989320"/>
            <a:ext cx="10543032" cy="457200"/>
          </a:xfrm>
          <a:prstGeom prst="roundRect">
            <a:avLst/>
          </a:prstGeom>
          <a:solidFill>
            <a:srgbClr val="FFF7E0"/>
          </a:solidFill>
          <a:ln w="12700">
            <a:solidFill>
              <a:srgbClr val="E9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8A6D1E"/>
                </a:solidFill>
                <a:latin typeface="Calibri"/>
              </a:rPr>
              <a:t>À COMPLÉTER — définir le montant, la valorisation visée et les jalons financés (objectifs chiffrés)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4748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987552"/>
            <a:ext cx="82296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271" y="914400"/>
            <a:ext cx="82296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2143" y="822959"/>
            <a:ext cx="82296" cy="310896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76809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Konsilys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Construisons le standard de pilotage des ESN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C7D2DD"/>
                </a:solidFill>
                <a:latin typeface="Calibri"/>
              </a:rPr>
              <a:t>Un marché large, un produit déjà en production, un modèle qui s'étend avec chaque client.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84CC16"/>
                </a:solidFill>
                <a:latin typeface="Calibri"/>
              </a:rPr>
              <a:t>contact@konsilys.fr   ·   konsilys.fr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